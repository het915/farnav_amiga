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Endpoints</c:v>
                </c:pt>
              </c:strCache>
            </c:strRef>
          </c:tx>
          <c:spPr>
            <a:solidFill>
              <a:srgbClr val="266EF1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Canbus</c:v>
                </c:pt>
                <c:pt idx="1">
                  <c:v>Filter</c:v>
                </c:pt>
                <c:pt idx="2">
                  <c:v>OAK Cameras</c:v>
                </c:pt>
                <c:pt idx="3">
                  <c:v>GPS</c:v>
                </c:pt>
                <c:pt idx="4">
                  <c:v>Track Follower</c:v>
                </c:pt>
                <c:pt idx="5">
                  <c:v>Sys Monitor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6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Port</c:v>
                </c:pt>
              </c:strCache>
            </c:strRef>
          </c:tx>
          <c:spPr>
            <a:solidFill>
              <a:srgbClr val="00B4D8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Canbus</c:v>
                </c:pt>
                <c:pt idx="1">
                  <c:v>Filter</c:v>
                </c:pt>
                <c:pt idx="2">
                  <c:v>OAK Cameras</c:v>
                </c:pt>
                <c:pt idx="3">
                  <c:v>GPS</c:v>
                </c:pt>
                <c:pt idx="4">
                  <c:v>Track Follower</c:v>
                </c:pt>
                <c:pt idx="5">
                  <c:v>Sys Monitor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6001</c:v>
                </c:pt>
                <c:pt idx="1">
                  <c:v>20001</c:v>
                </c:pt>
                <c:pt idx="2">
                  <c:v>50010</c:v>
                </c:pt>
                <c:pt idx="3">
                  <c:v>50010</c:v>
                </c:pt>
                <c:pt idx="4">
                  <c:v>20101</c:v>
                </c:pt>
                <c:pt idx="5">
                  <c:v>20201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 %</c:v>
                </c:pt>
              </c:strCache>
            </c:strRef>
          </c:tx>
          <c:dPt>
            <c:idx val="0"/>
            <c:spPr>
              <a:solidFill>
                <a:srgbClr val="666666"/>
              </a:solidFill>
            </c:spPr>
          </c:dPt>
          <c:dPt>
            <c:idx val="1"/>
            <c:spPr>
              <a:solidFill>
                <a:srgbClr val="00B4D8"/>
              </a:solidFill>
            </c:spPr>
          </c:dPt>
          <c:dPt>
            <c:idx val="2"/>
            <c:spPr>
              <a:solidFill>
                <a:srgbClr val="2ECC71"/>
              </a:solidFill>
            </c:spPr>
          </c:dPt>
          <c:dPt>
            <c:idx val="3"/>
            <c:spPr>
              <a:solidFill>
                <a:srgbClr val="F09319"/>
              </a:solidFill>
            </c:spPr>
          </c:dPt>
          <c:dPt>
            <c:idx val="4"/>
            <c:spPr>
              <a:solidFill>
                <a:srgbClr val="E74C3C"/>
              </a:solidFill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1000">
                    <a:solidFill>
                      <a:srgbClr val="333333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MANUAL</c:v>
                </c:pt>
                <c:pt idx="1">
                  <c:v>AUTO_READY</c:v>
                </c:pt>
                <c:pt idx="2">
                  <c:v>AUTO_ACTIVE</c:v>
                </c:pt>
                <c:pt idx="3">
                  <c:v>CRUISE</c:v>
                </c:pt>
                <c:pt idx="4">
                  <c:v>E-STOP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15</c:v>
                </c:pt>
                <c:pt idx="2">
                  <c:v>60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900">
              <a:solidFill>
                <a:srgbClr val="33333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Frame Rate (Hz)</c:v>
                </c:pt>
              </c:strCache>
            </c:strRef>
          </c:tx>
          <c:spPr>
            <a:solidFill>
              <a:srgbClr val="266EF1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Left Mono</c:v>
                </c:pt>
                <c:pt idx="1">
                  <c:v>RGB Center</c:v>
                </c:pt>
                <c:pt idx="2">
                  <c:v>Right Mono</c:v>
                </c:pt>
                <c:pt idx="3">
                  <c:v>Disparity</c:v>
                </c:pt>
                <c:pt idx="4">
                  <c:v>IMU</c:v>
                </c:pt>
                <c:pt idx="5">
                  <c:v>GPS PVT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15</c:v>
                </c:pt>
                <c:pt idx="4">
                  <c:v>100</c:v>
                </c:pt>
                <c:pt idx="5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Bandwidth (MB/s)</c:v>
                </c:pt>
              </c:strCache>
            </c:strRef>
          </c:tx>
          <c:spPr>
            <a:solidFill>
              <a:srgbClr val="00B4D8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Left Mono</c:v>
                </c:pt>
                <c:pt idx="1">
                  <c:v>RGB Center</c:v>
                </c:pt>
                <c:pt idx="2">
                  <c:v>Right Mono</c:v>
                </c:pt>
                <c:pt idx="3">
                  <c:v>Disparity</c:v>
                </c:pt>
                <c:pt idx="4">
                  <c:v>IMU</c:v>
                </c:pt>
                <c:pt idx="5">
                  <c:v>GPS PVT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36</c:v>
                </c:pt>
                <c:pt idx="2">
                  <c:v>12</c:v>
                </c:pt>
                <c:pt idx="3">
                  <c:v>8</c:v>
                </c:pt>
                <c:pt idx="4">
                  <c:v>0.5</c:v>
                </c:pt>
                <c:pt idx="5">
                  <c:v>0.1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Bandwidth</c:v>
                </c:pt>
              </c:strCache>
            </c:strRef>
          </c:tx>
          <c:dPt>
            <c:idx val="0"/>
            <c:spPr>
              <a:solidFill>
                <a:srgbClr val="266EF1"/>
              </a:solidFill>
            </c:spPr>
          </c:dPt>
          <c:dPt>
            <c:idx val="1"/>
            <c:spPr>
              <a:solidFill>
                <a:srgbClr val="00B4D8"/>
              </a:solidFill>
            </c:spPr>
          </c:dPt>
          <c:dPt>
            <c:idx val="2"/>
            <c:spPr>
              <a:solidFill>
                <a:srgbClr val="2ECC71"/>
              </a:solidFill>
            </c:spPr>
          </c:dPt>
          <c:dPt>
            <c:idx val="3"/>
            <c:spPr>
              <a:solidFill>
                <a:srgbClr val="F09319"/>
              </a:solidFill>
            </c:spPr>
          </c:dPt>
          <c:dPt>
            <c:idx val="4"/>
            <c:spPr>
              <a:solidFill>
                <a:srgbClr val="E74C3C"/>
              </a:solidFill>
            </c:spPr>
          </c:dPt>
          <c:dPt>
            <c:idx val="5"/>
            <c:spPr>
              <a:solidFill>
                <a:srgbClr val="9B59B6"/>
              </a:solidFill>
            </c:spPr>
          </c:dPt>
          <c:cat>
            <c:strRef>
              <c:f>Sheet1!$A$2:$A$7</c:f>
              <c:strCache>
                <c:ptCount val="6"/>
                <c:pt idx="0">
                  <c:v>RGB Center</c:v>
                </c:pt>
                <c:pt idx="1">
                  <c:v>Left Mono</c:v>
                </c:pt>
                <c:pt idx="2">
                  <c:v>Right Mono</c:v>
                </c:pt>
                <c:pt idx="3">
                  <c:v>Disparity</c:v>
                </c:pt>
                <c:pt idx="4">
                  <c:v>IMU</c:v>
                </c:pt>
                <c:pt idx="5">
                  <c:v>GPS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</c:v>
                </c:pt>
                <c:pt idx="1">
                  <c:v>12</c:v>
                </c:pt>
                <c:pt idx="2">
                  <c:v>12</c:v>
                </c:pt>
                <c:pt idx="3">
                  <c:v>8</c:v>
                </c:pt>
                <c:pt idx="4">
                  <c:v>0.5</c:v>
                </c:pt>
                <c:pt idx="5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333333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gRPC Call (ms)</c:v>
                </c:pt>
              </c:strCache>
            </c:strRef>
          </c:tx>
          <c:spPr>
            <a:solidFill>
              <a:srgbClr val="266EF1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Twist Cmd</c:v>
                </c:pt>
                <c:pt idx="1">
                  <c:v>Canbus State</c:v>
                </c:pt>
                <c:pt idx="2">
                  <c:v>Odom/Filter</c:v>
                </c:pt>
                <c:pt idx="3">
                  <c:v>Camera Frame</c:v>
                </c:pt>
                <c:pt idx="4">
                  <c:v>GPS PVT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Serialization (ms)</c:v>
                </c:pt>
              </c:strCache>
            </c:strRef>
          </c:tx>
          <c:spPr>
            <a:solidFill>
              <a:srgbClr val="00B4D8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Twist Cmd</c:v>
                </c:pt>
                <c:pt idx="1">
                  <c:v>Canbus State</c:v>
                </c:pt>
                <c:pt idx="2">
                  <c:v>Odom/Filter</c:v>
                </c:pt>
                <c:pt idx="3">
                  <c:v>Camera Frame</c:v>
                </c:pt>
                <c:pt idx="4">
                  <c:v>GPS PVT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3</c:v>
                </c:pt>
                <c:pt idx="3">
                  <c:v>12</c:v>
                </c:pt>
                <c:pt idx="4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ROS2 Publish (ms)</c:v>
                </c:pt>
              </c:strCache>
            </c:strRef>
          </c:tx>
          <c:spPr>
            <a:solidFill>
              <a:srgbClr val="2ECC71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Twist Cmd</c:v>
                </c:pt>
                <c:pt idx="1">
                  <c:v>Canbus State</c:v>
                </c:pt>
                <c:pt idx="2">
                  <c:v>Odom/Filter</c:v>
                </c:pt>
                <c:pt idx="3">
                  <c:v>Camera Frame</c:v>
                </c:pt>
                <c:pt idx="4">
                  <c:v>GPS PVT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Network (ms)</c:v>
                </c:pt>
              </c:strCache>
            </c:strRef>
          </c:tx>
          <c:spPr>
            <a:solidFill>
              <a:srgbClr val="F09319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Twist Cmd</c:v>
                </c:pt>
                <c:pt idx="1">
                  <c:v>Canbus State</c:v>
                </c:pt>
                <c:pt idx="2">
                  <c:v>Odom/Filter</c:v>
                </c:pt>
                <c:pt idx="3">
                  <c:v>Camera Frame</c:v>
                </c:pt>
                <c:pt idx="4">
                  <c:v>GPS PVT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15</c:v>
                </c:pt>
                <c:pt idx="4">
                  <c:v>4</c:v>
                </c:pt>
              </c:numCache>
            </c:numRef>
          </c:val>
        </c:ser>
        <c:gapWidth val="12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%</c:v>
                </c:pt>
              </c:strCache>
            </c:strRef>
          </c:tx>
          <c:spPr>
            <a:solidFill>
              <a:srgbClr val="266EF1"/>
            </a:solidFill>
            <a:ln w="31750">
              <a:solidFill>
                <a:srgbClr val="266EF1"/>
              </a:solidFill>
            </a:ln>
          </c:spPr>
          <c:cat>
            <c:strRef>
              <c:f>Sheet1!$A$2:$A$11</c:f>
              <c:strCache>
                <c:ptCount val="10"/>
                <c:pt idx="0">
                  <c:v>T+0s</c:v>
                </c:pt>
                <c:pt idx="1">
                  <c:v>T+10s</c:v>
                </c:pt>
                <c:pt idx="2">
                  <c:v>T+20s</c:v>
                </c:pt>
                <c:pt idx="3">
                  <c:v>T+30s</c:v>
                </c:pt>
                <c:pt idx="4">
                  <c:v>T+40s</c:v>
                </c:pt>
                <c:pt idx="5">
                  <c:v>T+50s</c:v>
                </c:pt>
                <c:pt idx="6">
                  <c:v>T+60s</c:v>
                </c:pt>
                <c:pt idx="7">
                  <c:v>T+70s</c:v>
                </c:pt>
                <c:pt idx="8">
                  <c:v>T+80s</c:v>
                </c:pt>
                <c:pt idx="9">
                  <c:v>T+90s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</c:v>
                </c:pt>
                <c:pt idx="1">
                  <c:v>42</c:v>
                </c:pt>
                <c:pt idx="2">
                  <c:v>55</c:v>
                </c:pt>
                <c:pt idx="3">
                  <c:v>48</c:v>
                </c:pt>
                <c:pt idx="4">
                  <c:v>62</c:v>
                </c:pt>
                <c:pt idx="5">
                  <c:v>58</c:v>
                </c:pt>
                <c:pt idx="6">
                  <c:v>45</c:v>
                </c:pt>
                <c:pt idx="7">
                  <c:v>50</c:v>
                </c:pt>
                <c:pt idx="8">
                  <c:v>53</c:v>
                </c:pt>
                <c:pt idx="9">
                  <c:v>47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Memory %</c:v>
                </c:pt>
              </c:strCache>
            </c:strRef>
          </c:tx>
          <c:spPr>
            <a:solidFill>
              <a:srgbClr val="00B4D8"/>
            </a:solidFill>
            <a:ln w="31750">
              <a:solidFill>
                <a:srgbClr val="00B4D8"/>
              </a:solidFill>
            </a:ln>
          </c:spPr>
          <c:cat>
            <c:strRef>
              <c:f>Sheet1!$A$2:$A$11</c:f>
              <c:strCache>
                <c:ptCount val="10"/>
                <c:pt idx="0">
                  <c:v>T+0s</c:v>
                </c:pt>
                <c:pt idx="1">
                  <c:v>T+10s</c:v>
                </c:pt>
                <c:pt idx="2">
                  <c:v>T+20s</c:v>
                </c:pt>
                <c:pt idx="3">
                  <c:v>T+30s</c:v>
                </c:pt>
                <c:pt idx="4">
                  <c:v>T+40s</c:v>
                </c:pt>
                <c:pt idx="5">
                  <c:v>T+50s</c:v>
                </c:pt>
                <c:pt idx="6">
                  <c:v>T+60s</c:v>
                </c:pt>
                <c:pt idx="7">
                  <c:v>T+70s</c:v>
                </c:pt>
                <c:pt idx="8">
                  <c:v>T+80s</c:v>
                </c:pt>
                <c:pt idx="9">
                  <c:v>T+90s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65</c:v>
                </c:pt>
                <c:pt idx="5">
                  <c:v>64</c:v>
                </c:pt>
                <c:pt idx="6">
                  <c:v>63</c:v>
                </c:pt>
                <c:pt idx="7">
                  <c:v>64</c:v>
                </c:pt>
                <c:pt idx="8">
                  <c:v>65</c:v>
                </c:pt>
                <c:pt idx="9">
                  <c:v>64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(MB/s)</c:v>
                </c:pt>
              </c:strCache>
            </c:strRef>
          </c:tx>
          <c:spPr>
            <a:solidFill>
              <a:srgbClr val="2ECC71"/>
            </a:solidFill>
            <a:ln w="31750">
              <a:solidFill>
                <a:srgbClr val="2ECC71"/>
              </a:solidFill>
            </a:ln>
          </c:spPr>
          <c:cat>
            <c:strRef>
              <c:f>Sheet1!$A$2:$A$11</c:f>
              <c:strCache>
                <c:ptCount val="10"/>
                <c:pt idx="0">
                  <c:v>T+0s</c:v>
                </c:pt>
                <c:pt idx="1">
                  <c:v>T+10s</c:v>
                </c:pt>
                <c:pt idx="2">
                  <c:v>T+20s</c:v>
                </c:pt>
                <c:pt idx="3">
                  <c:v>T+30s</c:v>
                </c:pt>
                <c:pt idx="4">
                  <c:v>T+40s</c:v>
                </c:pt>
                <c:pt idx="5">
                  <c:v>T+50s</c:v>
                </c:pt>
                <c:pt idx="6">
                  <c:v>T+60s</c:v>
                </c:pt>
                <c:pt idx="7">
                  <c:v>T+70s</c:v>
                </c:pt>
                <c:pt idx="8">
                  <c:v>T+80s</c:v>
                </c:pt>
                <c:pt idx="9">
                  <c:v>T+90s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40</c:v>
                </c:pt>
                <c:pt idx="1">
                  <c:v>45</c:v>
                </c:pt>
                <c:pt idx="2">
                  <c:v>68</c:v>
                </c:pt>
                <c:pt idx="3">
                  <c:v>55</c:v>
                </c:pt>
                <c:pt idx="4">
                  <c:v>72</c:v>
                </c:pt>
                <c:pt idx="5">
                  <c:v>65</c:v>
                </c:pt>
                <c:pt idx="6">
                  <c:v>50</c:v>
                </c:pt>
                <c:pt idx="7">
                  <c:v>58</c:v>
                </c:pt>
                <c:pt idx="8">
                  <c:v>60</c:v>
                </c:pt>
                <c:pt idx="9">
                  <c:v>52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EEEEE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6666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A1A2E"/>
                </a:solidFill>
              </a:defRPr>
            </a:pPr>
            <a:r>
              <a:t>Amiga Robot — 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gRPC Service Topology  ·  Port Allocation  ·  Control Flow  ·  Sensor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508760"/>
            <a:ext cx="109728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9202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66EF1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gRPC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9202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66EF1"/>
                </a:solidFill>
              </a:defRPr>
            </a:pPr>
            <a: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Camera Streams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9202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66EF1"/>
                </a:solidFill>
              </a:defRPr>
            </a:pPr>
            <a:r>
              <a:t>6001–50010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Port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9202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66EF1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Control States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9202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66EF1"/>
                </a:solidFill>
              </a:defRPr>
            </a:pPr>
            <a:r>
              <a:t>&lt; 50ms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Cmd Latency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9202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66EF1"/>
                </a:solidFill>
              </a:defRPr>
            </a:pPr>
            <a:r>
              <a:t>10 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697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</a:defRPr>
            </a:pPr>
            <a:r>
              <a:t>Odom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307" y="3840480"/>
            <a:ext cx="1554480" cy="10058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Pendant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6827" y="3840480"/>
            <a:ext cx="1554480" cy="1005840"/>
          </a:xfrm>
          <a:prstGeom prst="roundRect">
            <a:avLst/>
          </a:prstGeom>
          <a:solidFill>
            <a:srgbClr val="26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Canbus</a:t>
            </a:r>
            <a:br/>
            <a:r>
              <a:t>:6001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186787.5" y="4343400.0"/>
            <a:ext cx="320040.0" cy="0.0"/>
          </a:xfrm>
          <a:prstGeom prst="line">
            <a:avLst/>
          </a:prstGeom>
          <a:ln w="317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381347" y="3840480"/>
            <a:ext cx="1554480" cy="100584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Filter</a:t>
            </a:r>
            <a:br/>
            <a:r>
              <a:t>:20001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61307.5" y="4343400.0"/>
            <a:ext cx="320040.0" cy="0.0"/>
          </a:xfrm>
          <a:prstGeom prst="line">
            <a:avLst/>
          </a:prstGeom>
          <a:ln w="317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55867" y="3840480"/>
            <a:ext cx="1554480" cy="100584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Track Follower</a:t>
            </a:r>
            <a:br/>
            <a:r>
              <a:t>:20101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35827.5" y="4343400.0"/>
            <a:ext cx="320040.0" cy="0.0"/>
          </a:xfrm>
          <a:prstGeom prst="line">
            <a:avLst/>
          </a:prstGeom>
          <a:ln w="317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30387" y="3840480"/>
            <a:ext cx="1554480" cy="1005840"/>
          </a:xfrm>
          <a:prstGeom prst="roundRect">
            <a:avLst/>
          </a:prstGeom>
          <a:solidFill>
            <a:srgbClr val="F09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OAK Cameras</a:t>
            </a:r>
            <a:br/>
            <a:r>
              <a:t>:50010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10347.5" y="4343400.0"/>
            <a:ext cx="320040.0" cy="0.0"/>
          </a:xfrm>
          <a:prstGeom prst="line">
            <a:avLst/>
          </a:prstGeom>
          <a:ln w="317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04907" y="3840480"/>
            <a:ext cx="1554480" cy="100584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GPS</a:t>
            </a:r>
            <a:br/>
            <a:r>
              <a:t>:50010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84867.5" y="4343400.0"/>
            <a:ext cx="320040.0" cy="0.0"/>
          </a:xfrm>
          <a:prstGeom prst="line">
            <a:avLst/>
          </a:prstGeom>
          <a:ln w="317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Data flows left → right: Pendant triggers Canbus, which feeds Filter (odometry), Track Follower (path exec), while OAK + GPS provide perception.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Amiga Robotics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Service Port Allocation &amp; gRPC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Each service exposes gRPC endpoints on dedicated ports for isolation and reliability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09728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55448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822960"/>
                <a:gridCol w="2377440"/>
              </a:tblGrid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Paths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Canbus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/twist, /state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Filter/Odom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20001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gRPC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/state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OAK Cameras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/left, /rgb, /right, /disparity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50010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gRPC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/pvt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Track Follower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/track, 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System Monitor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20201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gRPC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/health, /metrics, /logs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Control State Machine &amp; Transition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Amiga uses a state-based control model — pendant sets AUTO_READY, software activates AUTO_ACTIVE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09728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011680"/>
            <a:ext cx="2011680" cy="109728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MANUAL</a:t>
            </a:r>
            <a:br/>
            <a:r>
              <a:t>(State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2011680" cy="109728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E-STOP</a:t>
            </a:r>
            <a:br/>
            <a:r>
              <a:t>(State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011680"/>
            <a:ext cx="2011680" cy="1097280"/>
          </a:xfrm>
          <a:prstGeom prst="roundRect">
            <a:avLst/>
          </a:prstGeom>
          <a:solidFill>
            <a:srgbClr val="F09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CRUISE</a:t>
            </a:r>
            <a:br/>
            <a:r>
              <a:t>(State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11680"/>
            <a:ext cx="2011680" cy="109728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AUTO_READY</a:t>
            </a:r>
            <a:br/>
            <a:r>
              <a:t>(State 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840480"/>
            <a:ext cx="2011680" cy="10972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AUTO_ACTIVE</a:t>
            </a:r>
            <a:br/>
            <a:r>
              <a:t>(State 5)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2560320"/>
            <a:ext cx="4572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12080" y="2560320"/>
            <a:ext cx="4572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3108960"/>
            <a:ext cx="0" cy="7315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743200" y="4389120"/>
            <a:ext cx="292608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7744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Pendant Switch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Pendant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/twist cmd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E-Stop / Timeout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8229600" y="1645920"/>
          <a:ext cx="36576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412480" y="5029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Typical operational time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Sensor Pipeline — OAK Camera &amp; GPS Throughput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6 camera streams + GPS feed processed at varying frame rates and bandwidths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09728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046720" y="1554480"/>
          <a:ext cx="36576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Bandwidth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5120640"/>
            <a:ext cx="3657600" cy="1097280"/>
          </a:xfrm>
          <a:prstGeom prst="roundRect">
            <a:avLst/>
          </a:prstGeom>
          <a:solidFill>
            <a:srgbClr val="F0F7FF"/>
          </a:solidFill>
          <a:ln w="19050">
            <a:solidFill>
              <a:srgbClr val="266E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RGB stream uses 52% of</a:t>
            </a:r>
            <a:br/>
            <a:r>
              <a:t>total sensor bandwidth</a:t>
            </a:r>
            <a:br/>
            <a:r>
              <a:t>→ Compression priority #1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ROS2 Bridge — Message Flow &amp; Latency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gRPC-to-ROS2 bridge converts Amiga messages with minimal overhead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09728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0" y="1645920"/>
            <a:ext cx="1463040" cy="731520"/>
          </a:xfrm>
          <a:prstGeom prst="roundRect">
            <a:avLst/>
          </a:prstGeom>
          <a:solidFill>
            <a:srgbClr val="26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Amiga</a:t>
            </a:r>
            <a:br/>
            <a:r>
              <a:t>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651760"/>
            <a:ext cx="1463040" cy="731520"/>
          </a:xfrm>
          <a:prstGeom prst="round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gRPC</a:t>
            </a:r>
            <a:br/>
            <a:r>
              <a:t>Client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61120.0" y="2377440"/>
            <a:ext cx="0.0" cy="2743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0" y="3657600"/>
            <a:ext cx="1463040" cy="7315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Bridge</a:t>
            </a:r>
            <a:br/>
            <a:r>
              <a:t>Node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0.0" y="3383280"/>
            <a:ext cx="0.0" cy="2743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0" y="4663440"/>
            <a:ext cx="1463040" cy="731520"/>
          </a:xfrm>
          <a:prstGeom prst="roundRect">
            <a:avLst/>
          </a:prstGeom>
          <a:solidFill>
            <a:srgbClr val="F09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ROS2</a:t>
            </a:r>
            <a:br/>
            <a:r>
              <a:t>Topic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0.0" y="4389120"/>
            <a:ext cx="0.0" cy="2743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0" y="5669280"/>
            <a:ext cx="1463040" cy="73152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Subscriber</a:t>
            </a:r>
            <a:br/>
            <a:r>
              <a:t>Node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.0" y="5394960"/>
            <a:ext cx="0.0" cy="2743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8408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~5ms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337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~3ms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4343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~2ms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5349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~1ms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Total end-to-end: 11–40ms depending on message type. Camera frames are the bottleneck.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System Health &amp; Operational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Real-time monitoring via System Monitor service on port 20201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80160"/>
            <a:ext cx="10972800" cy="0"/>
          </a:xfrm>
          <a:prstGeom prst="line">
            <a:avLst/>
          </a:prstGeom>
          <a:ln w="127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Canbus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664208"/>
            <a:ext cx="1371600" cy="36576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HEALTHY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2441448"/>
            <a:ext cx="1371600" cy="36576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HEALTHY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OAK Cameras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3218688"/>
            <a:ext cx="1371600" cy="365760"/>
          </a:xfrm>
          <a:prstGeom prst="roundRect">
            <a:avLst/>
          </a:prstGeom>
          <a:solidFill>
            <a:srgbClr val="F093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977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GPS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3995928"/>
            <a:ext cx="1371600" cy="36576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HEALTHY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Track Follower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4773168"/>
            <a:ext cx="1371600" cy="36576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ROS2 Bridge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5550408"/>
            <a:ext cx="1371600" cy="36576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HEALTHY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5486400"/>
            <a:ext cx="3657600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093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OAK WARN: Frame drops detected</a:t>
            </a:r>
            <a:br/>
            <a:r>
              <a:t>on disparity stream (&gt;5% loss)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Amiga Robotics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